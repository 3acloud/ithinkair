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4D8"/>
                </a:solidFill>
                <a:latin typeface="Microsoft YaHei"/>
              </a:defRPr>
            </a:pPr>
            <a:r>
              <a:t>JI QI ZHI XIN  -  HEART OF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机器之心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71600" y="3246120"/>
            <a:ext cx="3200400" cy="0"/>
          </a:xfrm>
          <a:prstGeom prst="line">
            <a:avLst/>
          </a:prstGeom>
          <a:ln w="381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71600" y="3520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C4DE"/>
                </a:solidFill>
                <a:latin typeface="Microsoft YaHei"/>
              </a:defRPr>
            </a:pPr>
            <a:r>
              <a:t>中国人工智能产业的第一窗口  -  全球 AI 信息的基础设施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5A5"/>
                </a:solidFill>
                <a:latin typeface="Microsoft YaHei"/>
              </a:defRPr>
            </a:pPr>
            <a:r>
              <a:t>从垂直媒体到 AI 综合信息与产业服务平台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创立于 2014 年  -  总部北京  -  全球 5 城分部  -  全网 150 万+用户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5" name="Oval 4"/>
          <p:cNvSpPr/>
          <p:nvPr/>
        </p:nvSpPr>
        <p:spPr>
          <a:xfrm>
            <a:off x="4389120" y="987552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53128" y="1005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914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企业概览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234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一句话了解机器之心</a:t>
            </a:r>
          </a:p>
        </p:txBody>
      </p:sp>
      <p:sp>
        <p:nvSpPr>
          <p:cNvPr id="9" name="Oval 8"/>
          <p:cNvSpPr/>
          <p:nvPr/>
        </p:nvSpPr>
        <p:spPr>
          <a:xfrm>
            <a:off x="4389120" y="1673352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创始人 &amp; 发展历程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从投资人到媒体创始人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2359152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品牌与内容矩阵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中文AI三大顶会之一</a:t>
            </a:r>
          </a:p>
        </p:txBody>
      </p:sp>
      <p:sp>
        <p:nvSpPr>
          <p:cNvPr id="17" name="Oval 16"/>
          <p:cNvSpPr/>
          <p:nvPr/>
        </p:nvSpPr>
        <p:spPr>
          <a:xfrm>
            <a:off x="4389120" y="3044952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971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全球影响力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唯一走向世界的中国AI媒体</a:t>
            </a:r>
          </a:p>
        </p:txBody>
      </p:sp>
      <p:sp>
        <p:nvSpPr>
          <p:cNvPr id="21" name="Oval 20"/>
          <p:cNvSpPr/>
          <p:nvPr/>
        </p:nvSpPr>
        <p:spPr>
          <a:xfrm>
            <a:off x="4389120" y="3730752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3749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产品与数据平台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977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百万级AI知识图谱</a:t>
            </a:r>
          </a:p>
        </p:txBody>
      </p:sp>
      <p:sp>
        <p:nvSpPr>
          <p:cNvPr id="25" name="Oval 24"/>
          <p:cNvSpPr/>
          <p:nvPr/>
        </p:nvSpPr>
        <p:spPr>
          <a:xfrm>
            <a:off x="4389120" y="4416552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128" y="4434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活动与年度评选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GMIS大会 &amp; AI中国年度榜单</a:t>
            </a:r>
          </a:p>
        </p:txBody>
      </p:sp>
      <p:sp>
        <p:nvSpPr>
          <p:cNvPr id="29" name="Oval 28"/>
          <p:cNvSpPr/>
          <p:nvPr/>
        </p:nvSpPr>
        <p:spPr>
          <a:xfrm>
            <a:off x="4389120" y="5102352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8" y="5120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产业服务 &amp; 商业模式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349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从媒体到 AI 时代的彭博</a:t>
            </a:r>
          </a:p>
        </p:txBody>
      </p:sp>
      <p:sp>
        <p:nvSpPr>
          <p:cNvPr id="33" name="Oval 32"/>
          <p:cNvSpPr/>
          <p:nvPr/>
        </p:nvSpPr>
        <p:spPr>
          <a:xfrm>
            <a:off x="4389120" y="5788152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53128" y="5806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行业地位 &amp; 未来展望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6035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中文AI媒体的领军者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企业概览：机器之心是谁？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4206240"/>
            <a:ext cx="3657600" cy="0"/>
          </a:xfrm>
          <a:prstGeom prst="line">
            <a:avLst/>
          </a:prstGeom>
          <a:ln w="381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731520" cy="0"/>
          </a:xfrm>
          <a:prstGeom prst="line">
            <a:avLst/>
          </a:prstGeom>
          <a:ln w="50800">
            <a:solidFill>
              <a:srgbClr val="1A5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一句话定义机器之心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698480" cy="23774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1E293B"/>
                </a:solidFill>
                <a:latin typeface="Microsoft YaHei"/>
              </a:defRPr>
            </a:pPr>
            <a:r>
              <a:t>国内首家系统性关注人工智能的科技媒体，同时也是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1E293B"/>
                </a:solidFill>
                <a:latin typeface="Microsoft YaHei"/>
              </a:defRPr>
            </a:pPr>
            <a:r>
              <a:t>一站式的 AI 综合信息与产业服务平台。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</a:p>
          <a:p>
            <a:pPr algn="ctr">
              <a:spcAft>
                <a:spcPts val="400"/>
              </a:spcAft>
              <a:defRPr sz="1600" b="0">
                <a:solidFill>
                  <a:srgbClr val="8B95A5"/>
                </a:solidFill>
                <a:latin typeface="Microsoft YaHei"/>
              </a:defRPr>
            </a:pPr>
            <a:r>
              <a:t>成立于 2014 年，核心定位是用专业、深度的内容，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8B95A5"/>
                </a:solidFill>
                <a:latin typeface="Microsoft YaHei"/>
              </a:defRPr>
            </a:pPr>
            <a:r>
              <a:t>服务人工智能从业者及关注 AI 的决策者。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49240"/>
            <a:ext cx="33832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40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56DB"/>
                </a:solidFill>
                <a:latin typeface="Microsoft YaHei"/>
              </a:defRPr>
            </a:pPr>
            <a:r>
              <a:t>专业深度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852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对标学术顶会的</a:t>
            </a:r>
            <a:br/>
            <a:r>
              <a:t>技术解读能力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5349240"/>
            <a:ext cx="33832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5440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B4D8"/>
                </a:solidFill>
                <a:latin typeface="Microsoft YaHei"/>
              </a:defRPr>
            </a:pPr>
            <a:r>
              <a:t>全球视野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5852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从中国看世界，</a:t>
            </a:r>
            <a:br/>
            <a:r>
              <a:t>让世界看中国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8" y="5349240"/>
            <a:ext cx="33832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8" y="5440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Microsoft YaHei"/>
              </a:defRPr>
            </a:pPr>
            <a:r>
              <a:t>产业服务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8" y="5852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连接技术、资本、</a:t>
            </a:r>
            <a:br/>
            <a:r>
              <a:t>人才与应用场景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机器之心  -  核心数据一览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10312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Microsoft YaHei"/>
              </a:defRPr>
            </a:pPr>
            <a:r>
              <a:t>150 万+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全网覆盖用户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371600"/>
            <a:ext cx="3383280" cy="210312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8288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  <a:latin typeface="Microsoft YaHei"/>
              </a:defRPr>
            </a:pPr>
            <a:r>
              <a:t>20 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651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日活跃用户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8" y="1371600"/>
            <a:ext cx="3383280" cy="210312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8" y="18288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A623"/>
                </a:solidFill>
                <a:latin typeface="Microsoft YaHei"/>
              </a:defRPr>
            </a:pPr>
            <a:r>
              <a:t>1 亿+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8" y="2651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累计阅读量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6F6F"/>
                </a:solidFill>
                <a:latin typeface="Microsoft YaHei"/>
              </a:defRPr>
            </a:pPr>
            <a:r>
              <a:t>40 万+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微信端订阅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840480"/>
            <a:ext cx="3383280" cy="210312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42976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A78BFA"/>
                </a:solidFill>
                <a:latin typeface="Microsoft YaHei"/>
              </a:defRPr>
            </a:pPr>
            <a:r>
              <a:t>50 万+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5120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知乎等平台订阅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8" y="3840480"/>
            <a:ext cx="3383280" cy="210312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8" y="42976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56DB"/>
                </a:solidFill>
                <a:latin typeface="Microsoft YaHei"/>
              </a:defRPr>
            </a:pPr>
            <a:r>
              <a:t>10 年+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5120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深耕 AI 内容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731520" cy="0"/>
          </a:xfrm>
          <a:prstGeom prst="line">
            <a:avLst/>
          </a:prstGeom>
          <a:ln w="50800">
            <a:solidFill>
              <a:srgbClr val="1A5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机器之心 - 基本档案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Fast 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320040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公司全称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737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机器之心（北京）科技有限公司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320040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英文品牌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40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Synced / Heart of Machine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97480"/>
            <a:ext cx="320040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成立时间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743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2015 年 4 月 3 日（品牌创立于 2014 年）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00400"/>
            <a:ext cx="320040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创始人 &amp; CEO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46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赵云峰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03320"/>
            <a:ext cx="320040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总部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749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北京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06240"/>
            <a:ext cx="320040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海外分部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251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湾区、西雅图、波士顿、多伦多、纽约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709160"/>
            <a:ext cx="320040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核心业务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754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AI 媒体 / 数据产品 / 产业研究 / 投行服务 / 品牌活动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212080"/>
            <a:ext cx="320040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257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最新融资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257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B 轮（2026 年 3 月，合肥国资）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715000"/>
            <a:ext cx="3200400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760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品牌 slogan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760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在浮躁的碎片化时代，保持深度学习的能力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创始人 &amp; 发展历程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4206240"/>
            <a:ext cx="3657600" cy="0"/>
          </a:xfrm>
          <a:prstGeom prst="line">
            <a:avLst/>
          </a:prstGeom>
          <a:ln w="381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731520" cy="0"/>
          </a:xfrm>
          <a:prstGeom prst="line">
            <a:avLst/>
          </a:prstGeom>
          <a:ln w="50800">
            <a:solidFill>
              <a:srgbClr val="1A5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创始人 &amp; CEO：赵云峰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从投资人到 AI 媒体的先行者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029200" cy="4389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教育背景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2010 年硕士毕业，非 CS 科班、非媒体出身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职业起点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硕士毕业后进入 VC 行业，成为投资人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投资的第一个项目：AI 图像识别（传统 ML 路线）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创业动机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2014 年深度学习技术爆发，他想系统学习 AI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EF4444"/>
                </a:solidFill>
                <a:latin typeface="Microsoft YaHei"/>
              </a:defRPr>
            </a:pPr>
            <a:r>
              <a:t>却发现：获取有价值的 AI 信息极其困难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于是开始翻译大量 AI 文章，创办机器之心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核心信条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F5A623"/>
                </a:solidFill>
                <a:latin typeface="Microsoft YaHei"/>
              </a:defRPr>
            </a:pPr>
            <a:r>
              <a:t>在浮躁的碎片化时代，保持深度学习的能力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F5A623"/>
                </a:solidFill>
                <a:latin typeface="Microsoft YaHei"/>
              </a:defRPr>
            </a:pPr>
            <a:r>
              <a:t>从时代的见证者，变为时代的参与者甚至推动者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创业历程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606040"/>
            <a:ext cx="164592" cy="164592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560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2014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业余翻译 AI 文章，创立机器之心品牌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3246120"/>
            <a:ext cx="164592" cy="164592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200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2015.04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429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公司正式注册，获联想之星天使轮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3886200"/>
            <a:ext cx="164592" cy="164592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840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2016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团队从兼职变全职，建立编辑与分析师团队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4526280"/>
            <a:ext cx="164592" cy="164592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480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2017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完成 Pre-A 轮（今日头条领投），建立北美团队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5166360"/>
            <a:ext cx="164592" cy="164592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1206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2018-2019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两轮融资完成，从媒体向产业服务转型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5806440"/>
            <a:ext cx="164592" cy="164592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57607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989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B 轮融资（合肥国资），深化产业布局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发展历程 - 大事记 (2014-2026)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2743200"/>
            <a:ext cx="996696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05840" y="251460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2014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品牌创立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赵云峰业余翻译</a:t>
            </a:r>
            <a:br/>
            <a:r>
              <a:t>AI文章起步</a:t>
            </a:r>
          </a:p>
        </p:txBody>
      </p:sp>
      <p:sp>
        <p:nvSpPr>
          <p:cNvPr id="9" name="Oval 8"/>
          <p:cNvSpPr/>
          <p:nvPr/>
        </p:nvSpPr>
        <p:spPr>
          <a:xfrm>
            <a:off x="2547257" y="251460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7217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2015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5777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公司成立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5777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机器之心（北京）</a:t>
            </a:r>
            <a:br/>
            <a:r>
              <a:t>科技有限公司注册</a:t>
            </a:r>
          </a:p>
        </p:txBody>
      </p:sp>
      <p:sp>
        <p:nvSpPr>
          <p:cNvPr id="13" name="Oval 12"/>
          <p:cNvSpPr/>
          <p:nvPr/>
        </p:nvSpPr>
        <p:spPr>
          <a:xfrm>
            <a:off x="4088674" y="251460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8634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2017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7194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出海布局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7194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北美5城团队建立</a:t>
            </a:r>
            <a:br/>
            <a:r>
              <a:t>英文Synced上线</a:t>
            </a:r>
          </a:p>
        </p:txBody>
      </p:sp>
      <p:sp>
        <p:nvSpPr>
          <p:cNvPr id="17" name="Oval 16"/>
          <p:cNvSpPr/>
          <p:nvPr/>
        </p:nvSpPr>
        <p:spPr>
          <a:xfrm>
            <a:off x="5630091" y="251460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0051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2018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8611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A轮融资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8611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人民网、百度等</a:t>
            </a:r>
            <a:br/>
            <a:r>
              <a:t>联合投资</a:t>
            </a:r>
          </a:p>
        </p:txBody>
      </p:sp>
      <p:sp>
        <p:nvSpPr>
          <p:cNvPr id="21" name="Oval 20"/>
          <p:cNvSpPr/>
          <p:nvPr/>
        </p:nvSpPr>
        <p:spPr>
          <a:xfrm>
            <a:off x="7171508" y="251460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1468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2019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0028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转型平台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0028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Pre-B轮；发布</a:t>
            </a:r>
            <a:br/>
            <a:r>
              <a:t>机器之心Pro</a:t>
            </a:r>
          </a:p>
        </p:txBody>
      </p:sp>
      <p:sp>
        <p:nvSpPr>
          <p:cNvPr id="25" name="Oval 24"/>
          <p:cNvSpPr/>
          <p:nvPr/>
        </p:nvSpPr>
        <p:spPr>
          <a:xfrm>
            <a:off x="8712925" y="251460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2885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2020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1445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全球声誉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1445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Medium AI Top Writer</a:t>
            </a:r>
            <a:br/>
            <a:r>
              <a:t>全球Top 40 AI媒体</a:t>
            </a:r>
          </a:p>
        </p:txBody>
      </p:sp>
      <p:sp>
        <p:nvSpPr>
          <p:cNvPr id="29" name="Oval 28"/>
          <p:cNvSpPr/>
          <p:nvPr/>
        </p:nvSpPr>
        <p:spPr>
          <a:xfrm>
            <a:off x="10254342" y="251460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4302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2862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AI中国年度榜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2862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6大榜单发布</a:t>
            </a:r>
            <a:br/>
            <a:r>
              <a:t>行业公信力标杆</a:t>
            </a:r>
          </a:p>
        </p:txBody>
      </p:sp>
      <p:sp>
        <p:nvSpPr>
          <p:cNvPr id="33" name="Oval 32"/>
          <p:cNvSpPr/>
          <p:nvPr/>
        </p:nvSpPr>
        <p:spPr>
          <a:xfrm>
            <a:off x="11795760" y="251460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75720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B轮 &amp; 扩张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3520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合肥国资投资</a:t>
            </a:r>
            <a:br/>
            <a:r>
              <a:t>深化产业服务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731520" cy="0"/>
          </a:xfrm>
          <a:prstGeom prst="line">
            <a:avLst/>
          </a:prstGeom>
          <a:ln w="50800">
            <a:solidFill>
              <a:srgbClr val="1A5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融资历程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从天使轮到 B 轮，累计 6 轮融资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" cy="2011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天使轮  -  2015.10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联想之星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金额：数百万元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54864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Pre-A轮  -  2017.02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今日头条领投，源码资本、</a:t>
            </a:r>
            <a:br/>
            <a:r>
              <a:t>科大讯飞、晨兴资本跟投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46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金额：未披露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54864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战略融资  -  2017.08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77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第四范式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246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金额：数百万元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0624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54864" cy="2011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43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Microsoft YaHei"/>
              </a:defRPr>
            </a:pPr>
            <a:r>
              <a:t>A轮  -  2018.01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星路资本领投，人民网、</a:t>
            </a:r>
            <a:br/>
            <a:r>
              <a:t>百度风投、科大讯飞等跟投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623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金额：未披露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20624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206240"/>
            <a:ext cx="54864" cy="2011680"/>
          </a:xfrm>
          <a:prstGeom prst="rect">
            <a:avLst/>
          </a:prstGeom>
          <a:solidFill>
            <a:srgbClr val="E8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343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F6F"/>
                </a:solidFill>
                <a:latin typeface="Microsoft YaHei"/>
              </a:defRPr>
            </a:pPr>
            <a:r>
              <a:t>Pre-B轮  -  2019.03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754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百度风投领投</a:t>
            </a:r>
            <a:br/>
            <a:r>
              <a:t>联想创投跟投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623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金额：未披露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20624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4206240"/>
            <a:ext cx="54864" cy="2011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4343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Microsoft YaHei"/>
              </a:defRPr>
            </a:pPr>
            <a:r>
              <a:t>B轮  -  2026.03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754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合肥创新投资</a:t>
            </a:r>
            <a:br/>
            <a:r>
              <a:t>合肥产投集团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5623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金额：未披露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品牌矩阵与内容生态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4206240"/>
            <a:ext cx="3657600" cy="0"/>
          </a:xfrm>
          <a:prstGeom prst="line">
            <a:avLst/>
          </a:prstGeom>
          <a:ln w="381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12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731520" cy="0"/>
          </a:xfrm>
          <a:prstGeom prst="line">
            <a:avLst/>
          </a:prstGeom>
          <a:ln w="50800">
            <a:solidFill>
              <a:srgbClr val="1A5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品牌矩阵 - 全景图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三个核心品牌 + 多个子品牌，覆盖不同受众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011680"/>
            <a:ext cx="21488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21488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  <a:latin typeface="Microsoft YaHei"/>
              </a:defRPr>
            </a:pPr>
            <a:r>
              <a:t>机器之心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技术深度报道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AI 前沿技术、学术论文</a:t>
            </a:r>
            <a:br/>
            <a:r>
              <a:t>顶会解读、行业趋势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2011680"/>
            <a:ext cx="21488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2011680"/>
            <a:ext cx="21488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Microsoft YaHei"/>
              </a:defRPr>
            </a:pPr>
            <a:r>
              <a:t>机器之能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560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产业落地应用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926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AI + 行业应用</a:t>
            </a:r>
            <a:br/>
            <a:r>
              <a:t>技术商业化落地案例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2011680"/>
            <a:ext cx="21488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60" y="2011680"/>
            <a:ext cx="2148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Microsoft YaHei"/>
              </a:defRPr>
            </a:pPr>
            <a:r>
              <a:t>Synced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560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全球英文传播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926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向全球传播中国 AI 动态</a:t>
            </a:r>
            <a:br/>
            <a:r>
              <a:t>Medium Top Writer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2011680"/>
            <a:ext cx="21488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80" y="2011680"/>
            <a:ext cx="21488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A623"/>
                </a:solidFill>
                <a:latin typeface="Microsoft YaHei"/>
              </a:defRPr>
            </a:pPr>
            <a:r>
              <a:t>Auto Byte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560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自动驾驶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926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汽车智能化赛道</a:t>
            </a:r>
            <a:br/>
            <a:r>
              <a:t>自动驾驶前沿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2011680"/>
            <a:ext cx="21488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2011680"/>
            <a:ext cx="2148840" cy="54864"/>
          </a:xfrm>
          <a:prstGeom prst="rect">
            <a:avLst/>
          </a:prstGeom>
          <a:solidFill>
            <a:srgbClr val="E8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F6F"/>
                </a:solidFill>
                <a:latin typeface="Microsoft YaHei"/>
              </a:defRPr>
            </a:pPr>
            <a:r>
              <a:t>机器之心Pro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560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数据与产品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926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AI 信息服务终端</a:t>
            </a:r>
            <a:br/>
            <a:r>
              <a:t>知识图谱 + 商用搜索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5486400"/>
            <a:ext cx="5760720" cy="914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56235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与量子位、新智元并称「中文 AI 三大顶会」   |   论文解读速度和覆盖面业内领先   |   唯一中英双语、全球化布局的 AI 媒体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内容特色：深度 + 速度 + 广度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320040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" y="164592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论文解读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第一时间解读 NeurIPS、</a:t>
            </a:r>
            <a:br/>
            <a:r>
              <a:t>ICML、ICLR、CVPR</a:t>
            </a:r>
            <a:br/>
            <a:r>
              <a:t>等顶会重要论文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651760" cy="320040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164592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286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全球快讯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432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覆盖全球 AI 前沿动态</a:t>
            </a:r>
            <a:br/>
            <a:r>
              <a:t>Google I/O、GTC、</a:t>
            </a:r>
            <a:br/>
            <a:r>
              <a:t>WWDC 等官方受邀报道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651760" cy="320040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86600" y="16459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深度报道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独家专访吴恩达、杨强、</a:t>
            </a:r>
            <a:br/>
            <a:r>
              <a:t>洪小文、刘庆峰等</a:t>
            </a:r>
            <a:br/>
            <a:r>
              <a:t>AI 核心人物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371600"/>
            <a:ext cx="2651760" cy="320040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66960" y="164592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286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产业洞察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7432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500强 AI 战略分析</a:t>
            </a:r>
            <a:br/>
            <a:r>
              <a:t>技术商业化路径拆解</a:t>
            </a:r>
            <a:br/>
            <a:r>
              <a:t>行业落地案例研究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300+ 篇/年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英文原创文章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10,000+ 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新闻数据库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38 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技术覆盖领域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55 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智能应用领域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10+ 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知识图谱实体类型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14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731520" cy="0"/>
          </a:xfrm>
          <a:prstGeom prst="line">
            <a:avLst/>
          </a:prstGeom>
          <a:ln w="50800">
            <a:solidFill>
              <a:srgbClr val="1A5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中文 AI 三大媒体 - 差异化定位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机器之心 vs 量子位 vs 新智元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645920" cy="4572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011680"/>
            <a:ext cx="2926080" cy="457200"/>
          </a:xfrm>
          <a:prstGeom prst="round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机器之心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011680"/>
            <a:ext cx="2926080" cy="457200"/>
          </a:xfrm>
          <a:prstGeom prst="round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量子位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2011680"/>
            <a:ext cx="2926080" cy="457200"/>
          </a:xfrm>
          <a:prstGeom prst="round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新智元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14600"/>
            <a:ext cx="1645920" cy="47548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877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内容调性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2514600"/>
            <a:ext cx="2926080" cy="47548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25877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56DB"/>
                </a:solidFill>
                <a:latin typeface="Microsoft YaHei"/>
              </a:defRPr>
            </a:pPr>
            <a:r>
              <a:t>偏学术-深度解读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2514600"/>
            <a:ext cx="2926080" cy="47548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25877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偏产业-商业报道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2514600"/>
            <a:ext cx="2926080" cy="47548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5877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偏前沿-快讯汇总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63240"/>
            <a:ext cx="164592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136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论文覆盖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3063240"/>
            <a:ext cx="292608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31363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56DB"/>
                </a:solidFill>
                <a:latin typeface="Microsoft YaHei"/>
              </a:defRPr>
            </a:pPr>
            <a:r>
              <a:t>最广-速度最快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3063240"/>
            <a:ext cx="292608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31363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3063240"/>
            <a:ext cx="292608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31363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611880"/>
            <a:ext cx="1645920" cy="47548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685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全球化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3611880"/>
            <a:ext cx="2926080" cy="47548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80" y="36850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56DB"/>
                </a:solidFill>
                <a:latin typeface="Microsoft YaHei"/>
              </a:defRPr>
            </a:pPr>
            <a:r>
              <a:t>中英双语-5城海外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0" y="3611880"/>
            <a:ext cx="2926080" cy="47548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36850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中文为主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3611880"/>
            <a:ext cx="2926080" cy="47548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36850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中文为主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160520"/>
            <a:ext cx="164592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4233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数据产品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60320" y="4160520"/>
            <a:ext cx="292608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80" y="42336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56DB"/>
                </a:solidFill>
                <a:latin typeface="Microsoft YaHei"/>
              </a:defRPr>
            </a:pPr>
            <a:r>
              <a:t>Pro平台-知识图谱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0" y="4160520"/>
            <a:ext cx="292608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06440" y="42336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智库报告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8240" y="4160520"/>
            <a:ext cx="292608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5400" y="42336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数据较少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709160"/>
            <a:ext cx="1645920" cy="47548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47823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品牌活动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4709160"/>
            <a:ext cx="2926080" cy="47548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97480" y="47823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56DB"/>
                </a:solidFill>
                <a:latin typeface="Microsoft YaHei"/>
              </a:defRPr>
            </a:pPr>
            <a:r>
              <a:t>GMIS-AI中国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0" y="4709160"/>
            <a:ext cx="2926080" cy="47548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06440" y="47823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MEET大会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78240" y="4709160"/>
            <a:ext cx="2926080" cy="47548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15400" y="47823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世界AI大会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5257800"/>
            <a:ext cx="164592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" y="5330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核心受众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560320" y="5257800"/>
            <a:ext cx="292608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97480" y="5330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56DB"/>
                </a:solidFill>
                <a:latin typeface="Microsoft YaHei"/>
              </a:defRPr>
            </a:pPr>
            <a:r>
              <a:t>AI研究者-从业者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0" y="5257800"/>
            <a:ext cx="292608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06440" y="5330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产业决策者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778240" y="5257800"/>
            <a:ext cx="292608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15400" y="5330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泛科技爱好者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内容覆盖：38 个技术领域 x 55 个应用领域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8229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大语言模型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2560320" cy="8229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计算机视觉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2560320" cy="8229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自然语言处理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371600"/>
            <a:ext cx="2560320" cy="8229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强化学习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23160"/>
            <a:ext cx="2560320" cy="8229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图神经网络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423160"/>
            <a:ext cx="2560320" cy="8229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自动驾驶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423160"/>
            <a:ext cx="2560320" cy="8229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AI芯片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423160"/>
            <a:ext cx="2560320" cy="8229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具身智能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2560320" cy="8229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AI for Science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3474720"/>
            <a:ext cx="2560320" cy="8229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生成式AI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474720"/>
            <a:ext cx="2560320" cy="8229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联邦学习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3474720"/>
            <a:ext cx="2560320" cy="8229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模型压缩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526280"/>
            <a:ext cx="2560320" cy="8229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多模态学习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4526280"/>
            <a:ext cx="2560320" cy="8229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语音识别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526280"/>
            <a:ext cx="2560320" cy="8229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知识图谱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4526280"/>
            <a:ext cx="2560320" cy="8229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MLOps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全球影响力：唯一走向世界的中国 AI 媒体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4206240"/>
            <a:ext cx="3657600" cy="0"/>
          </a:xfrm>
          <a:prstGeom prst="line">
            <a:avLst/>
          </a:prstGeom>
          <a:ln w="381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17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731520" cy="0"/>
          </a:xfrm>
          <a:prstGeom prst="line">
            <a:avLst/>
          </a:prstGeom>
          <a:ln w="50800">
            <a:solidFill>
              <a:srgbClr val="1A5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全球布局：5 城海外团队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北美覆盖：湾区 - 西雅图 - 波士顿 - 纽约 - 多伦多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2103120" cy="2743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28600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湾区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硅谷核心</a:t>
            </a:r>
            <a:br/>
            <a:r>
              <a:t>AI 创业与投资中心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011680"/>
            <a:ext cx="2103120" cy="2743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91840" y="228600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西雅图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2918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微软/亚马逊总部</a:t>
            </a:r>
            <a:br/>
            <a:r>
              <a:t>云计算与AI重镇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011680"/>
            <a:ext cx="2103120" cy="2743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23560" y="228600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波士顿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918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MIT/哈佛所在</a:t>
            </a:r>
            <a:br/>
            <a:r>
              <a:t>学术AI核心区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011680"/>
            <a:ext cx="2103120" cy="2743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55280" y="228600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纽约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2918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金融+AI交汇</a:t>
            </a:r>
            <a:br/>
            <a:r>
              <a:t>媒体与资本中心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011680"/>
            <a:ext cx="2103120" cy="2743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87000" y="228600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多伦多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2918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Vector Institute</a:t>
            </a:r>
            <a:br/>
            <a:r>
              <a:t>Hinton 图灵奖团队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25780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全球化策略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机器之心是中国唯一在海外设立内容团队、运营英文订阅媒体的 AI 垂直媒体。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既向中国解读全球 AI 前沿，也向世界传递中国 AI 进展——天然的「双向传播」优势。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Synced 全球影响力 - 权威认可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2044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Microsoft YaHei"/>
              </a:defRPr>
            </a:pPr>
            <a:r>
              <a:t>Medium</a:t>
            </a:r>
            <a:br/>
            <a:r>
              <a:t>Top Writer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AI 与科技类目唯一</a:t>
            </a:r>
            <a:br/>
            <a:r>
              <a:t>中文背景媒体</a:t>
            </a:r>
            <a:br/>
            <a:r>
              <a:t>全球仅50个账号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2044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Microsoft YaHei"/>
              </a:defRPr>
            </a:pPr>
            <a:r>
              <a:t>Yann LeCun</a:t>
            </a:r>
            <a:br/>
            <a:r>
              <a:t>公开点赞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图灵奖得主、Meta AI</a:t>
            </a:r>
            <a:br/>
            <a:r>
              <a:t>首席科学家公开</a:t>
            </a:r>
            <a:br/>
            <a:r>
              <a:t>赞赏其报道质量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52044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63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A623"/>
                </a:solidFill>
                <a:latin typeface="Microsoft YaHei"/>
              </a:defRPr>
            </a:pPr>
            <a:r>
              <a:t>Nature / UN</a:t>
            </a:r>
            <a:br/>
            <a:r>
              <a:t>官方转发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被 Nature 期刊、联合</a:t>
            </a:r>
            <a:br/>
            <a:r>
              <a:t>国 ITU、加拿大政府</a:t>
            </a:r>
            <a:br/>
            <a:r>
              <a:t>官方社媒转载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352044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F6F"/>
                </a:solidFill>
                <a:latin typeface="Microsoft YaHei"/>
              </a:defRPr>
            </a:pPr>
            <a:r>
              <a:t>SCIE 收录</a:t>
            </a:r>
            <a:br/>
            <a:r>
              <a:t>学术期刊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Synced Journal</a:t>
            </a:r>
            <a:br/>
            <a:r>
              <a:t>英文期刊被</a:t>
            </a:r>
            <a:br/>
            <a:r>
              <a:t>SCI Expanded 收录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931920"/>
            <a:ext cx="352044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06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  <a:latin typeface="Microsoft YaHei"/>
              </a:defRPr>
            </a:pPr>
            <a:r>
              <a:t>顶级会议</a:t>
            </a:r>
            <a:br/>
            <a:r>
              <a:t>官方媒体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0292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唯一通过 NIPS 官方</a:t>
            </a:r>
            <a:br/>
            <a:r>
              <a:t>媒体审核的中国媒体</a:t>
            </a:r>
            <a:br/>
            <a:r>
              <a:t>受邀 Google I/O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931920"/>
            <a:ext cx="352044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206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Microsoft YaHei"/>
              </a:defRPr>
            </a:pPr>
            <a:r>
              <a:t>全球 Top 40</a:t>
            </a:r>
            <a:br/>
            <a:r>
              <a:t>AI 媒体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0292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被国际权威榜单列</a:t>
            </a:r>
            <a:br/>
            <a:r>
              <a:t>为全球Top 40的</a:t>
            </a:r>
            <a:br/>
            <a:r>
              <a:t>人工智能英文媒体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19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731520" cy="0"/>
          </a:xfrm>
          <a:prstGeom prst="line">
            <a:avLst/>
          </a:prstGeom>
          <a:ln w="50800">
            <a:solidFill>
              <a:srgbClr val="1A5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全球社媒关注者网络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谁在关注 Synced？——全球顶尖 AI 机构与学者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606040" cy="16459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Amazon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亚马逊官方 AI 研究账号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011680"/>
            <a:ext cx="2606040" cy="16459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2860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MIT CSAIL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8346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MIT 计算机科学与 AI 实验室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2606040" cy="16459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Jack Clark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346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OpenAI Policy Director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2011680"/>
            <a:ext cx="2606040" cy="16459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2860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David 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8346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Google Brain Tokyo 研究员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2606040" cy="16459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Oren Etzioni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AI2 研究所 CEO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206240"/>
            <a:ext cx="2606040" cy="16459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44805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Baidu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5029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百度研究院官方账号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206240"/>
            <a:ext cx="2606040" cy="16459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4805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Yann LeCun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029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图灵奖得主 - Meta 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4206240"/>
            <a:ext cx="2606040" cy="16459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44805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Reddit ML社区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5029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r/MachineLearning</a:t>
            </a:r>
            <a:br/>
            <a:r>
              <a:t>1000+ 帖均赞 100+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产品矩阵与数据平台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4206240"/>
            <a:ext cx="3657600" cy="0"/>
          </a:xfrm>
          <a:prstGeom prst="line">
            <a:avLst/>
          </a:prstGeom>
          <a:ln w="381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21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731520" cy="0"/>
          </a:xfrm>
          <a:prstGeom prst="line">
            <a:avLst/>
          </a:prstGeom>
          <a:ln w="50800">
            <a:solidFill>
              <a:srgbClr val="1A5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产品矩阵全景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从内容到数据、从工具到平台：一站式的 AI 信息服务体系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52044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" cy="2057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  <a:latin typeface="Microsoft YaHei"/>
              </a:defRPr>
            </a:pPr>
            <a:r>
              <a:t>机器之心Pro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旗舰 AI 数据平台</a:t>
            </a:r>
            <a:br/>
            <a:r>
              <a:t>百万知识图谱驱动</a:t>
            </a:r>
            <a:br/>
            <a:r>
              <a:t>新闻 + 行业 + 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A5"/>
                </a:solidFill>
                <a:latin typeface="Microsoft YaHei"/>
              </a:defRPr>
            </a:pPr>
            <a:r>
              <a:t>pro.jiqizhixin.com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352044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54864" cy="2057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Microsoft YaHei"/>
              </a:defRPr>
            </a:pPr>
            <a:r>
              <a:t>AI 垂直搜索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231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全球首款 AI 领域</a:t>
            </a:r>
            <a:br/>
            <a:r>
              <a:t>垂直搜索引擎</a:t>
            </a:r>
            <a:br/>
            <a:r>
              <a:t>精准度远超通用搜索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52044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54864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Microsoft YaHei"/>
              </a:defRPr>
            </a:pPr>
            <a:r>
              <a:t>AI 商用搜索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231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全球 AI 应用实例库</a:t>
            </a:r>
            <a:br/>
            <a:r>
              <a:t>收录 3,100+ 案例</a:t>
            </a:r>
            <a:br/>
            <a:r>
              <a:t>技术-产业对接工具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06240"/>
            <a:ext cx="352044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54864" cy="2057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A623"/>
                </a:solidFill>
                <a:latin typeface="Microsoft YaHei"/>
              </a:defRPr>
            </a:pPr>
            <a:r>
              <a:t>知识卡片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006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文章中自动识别</a:t>
            </a:r>
            <a:br/>
            <a:r>
              <a:t>AI 实体(技术/人物/机构)</a:t>
            </a:r>
            <a:br/>
            <a:r>
              <a:t>辅助深度阅读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206240"/>
            <a:ext cx="352044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4206240"/>
            <a:ext cx="54864" cy="2057400"/>
          </a:xfrm>
          <a:prstGeom prst="rect">
            <a:avLst/>
          </a:prstGeom>
          <a:solidFill>
            <a:srgbClr val="E8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389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F6F"/>
                </a:solidFill>
                <a:latin typeface="Microsoft YaHei"/>
              </a:defRPr>
            </a:pPr>
            <a:r>
              <a:t>AI Daily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8006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AI 快讯自动聚合</a:t>
            </a:r>
            <a:br/>
            <a:r>
              <a:t>每日推送</a:t>
            </a:r>
            <a:br/>
            <a:r>
              <a:t>覆盖多语言信源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206240"/>
            <a:ext cx="352044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4206240"/>
            <a:ext cx="54864" cy="2057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389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Microsoft YaHei"/>
              </a:defRPr>
            </a:pPr>
            <a:r>
              <a:t>信息小程序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8006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微信生态 AI 入口</a:t>
            </a:r>
            <a:br/>
            <a:r>
              <a:t>轻量级信息获取</a:t>
            </a:r>
            <a:br/>
            <a:r>
              <a:t>即用即走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核心产品：机器之心Pro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Microsoft YaHei"/>
              </a:defRPr>
            </a:pPr>
            <a:r>
              <a:t>基于百万级 AI 知识图谱的专业信息与数据平台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97480" cy="292608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Microsoft YaHei"/>
              </a:defRPr>
            </a:pPr>
            <a:r>
              <a:t>导航总览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实时动态流 + 深度动态流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697480" cy="292608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新闻数据库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317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Microsoft YaHei"/>
              </a:defRPr>
            </a:pPr>
            <a:r>
              <a:t>10,000+ 条新闻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8036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5 类信源 - 3 年历史数据</a:t>
            </a:r>
            <a:br/>
            <a:r>
              <a:t>arXiv / GoogleNews / Medium / 全网中文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45920"/>
            <a:ext cx="2697480" cy="292608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行业数据库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Microsoft YaHei"/>
              </a:defRPr>
            </a:pPr>
            <a:r>
              <a:t>6,000+ 机构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3,000+ 解决方案及落地案例</a:t>
            </a:r>
            <a:br/>
            <a:r>
              <a:t>按领域/场景/应用形态筛选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45920"/>
            <a:ext cx="2697480" cy="292608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828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深度精选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3317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Microsoft YaHei"/>
              </a:defRPr>
            </a:pPr>
            <a:r>
              <a:t>100+ 深度文章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88036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60+ 份行研报告</a:t>
            </a:r>
            <a:br/>
            <a:r>
              <a:t>产业分析 - 大咖观点 - 工程实践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16636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目标愿景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让每一个 AI 从业者都能高效获取信息、学习知识、做出决策——成为 AI 时代的彭博终端。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8B95A5"/>
                </a:solidFill>
                <a:latin typeface="Microsoft YaHei"/>
              </a:defRPr>
            </a:pPr>
            <a:r>
              <a:t>覆盖：38 个技术领域 + 55 个智能应用领域，知识图谱规模 100 万+ 条数据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23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731520" cy="0"/>
          </a:xfrm>
          <a:prstGeom prst="line">
            <a:avLst/>
          </a:prstGeom>
          <a:ln w="50800">
            <a:solidFill>
              <a:srgbClr val="1A5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核心壁垒：百万级 AI 知识图谱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驱动机器之心所有数据产品的底层引擎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Microsoft YaHei"/>
              </a:defRPr>
            </a:pPr>
            <a:r>
              <a:t>11 项 AI 领域核心实体类别，100 万+ 条结构化数据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606040" cy="8229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技术领域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286000"/>
            <a:ext cx="2606040" cy="8229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4871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学术论文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286000"/>
            <a:ext cx="2606040" cy="8229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4871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会议/期刊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2286000"/>
            <a:ext cx="2606040" cy="8229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24871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企业机构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83280"/>
            <a:ext cx="2606040" cy="8229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844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行业人物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383280"/>
            <a:ext cx="2606040" cy="8229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35844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产品应用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383280"/>
            <a:ext cx="2606040" cy="8229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5844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3383280"/>
            <a:ext cx="2606040" cy="8229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35844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投资事件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80560"/>
            <a:ext cx="2606040" cy="8229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8172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政策法规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4480560"/>
            <a:ext cx="2606040" cy="8229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468172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数据集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480560"/>
            <a:ext cx="2606040" cy="8229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68172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开发工具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应用场景</a:t>
            </a:r>
          </a:p>
        </p:txBody>
      </p:sp>
      <p:sp>
        <p:nvSpPr>
          <p:cNvPr id="30" name="Oval 29"/>
          <p:cNvSpPr/>
          <p:nvPr/>
        </p:nvSpPr>
        <p:spPr>
          <a:xfrm>
            <a:off x="1188720" y="6080760"/>
            <a:ext cx="228600" cy="228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355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Microsoft YaHei"/>
              </a:defRPr>
            </a:pPr>
            <a:r>
              <a:t>知识卡自动识别</a:t>
            </a:r>
          </a:p>
        </p:txBody>
      </p:sp>
      <p:sp>
        <p:nvSpPr>
          <p:cNvPr id="32" name="Oval 31"/>
          <p:cNvSpPr/>
          <p:nvPr/>
        </p:nvSpPr>
        <p:spPr>
          <a:xfrm>
            <a:off x="3520440" y="6080760"/>
            <a:ext cx="228600" cy="228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6355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Microsoft YaHei"/>
              </a:defRPr>
            </a:pPr>
            <a:r>
              <a:t>垂直搜索精准匹配</a:t>
            </a:r>
          </a:p>
        </p:txBody>
      </p:sp>
      <p:sp>
        <p:nvSpPr>
          <p:cNvPr id="34" name="Oval 33"/>
          <p:cNvSpPr/>
          <p:nvPr/>
        </p:nvSpPr>
        <p:spPr>
          <a:xfrm>
            <a:off x="5852160" y="6080760"/>
            <a:ext cx="228600" cy="228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9240" y="6355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Microsoft YaHei"/>
              </a:defRPr>
            </a:pPr>
            <a:r>
              <a:t>动态信息智能推送</a:t>
            </a:r>
          </a:p>
        </p:txBody>
      </p:sp>
      <p:sp>
        <p:nvSpPr>
          <p:cNvPr id="36" name="Oval 35"/>
          <p:cNvSpPr/>
          <p:nvPr/>
        </p:nvSpPr>
        <p:spPr>
          <a:xfrm>
            <a:off x="8183880" y="6080760"/>
            <a:ext cx="228600" cy="228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0" y="6355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Microsoft YaHei"/>
              </a:defRPr>
            </a:pPr>
            <a:r>
              <a:t>行业报告自动生成</a:t>
            </a:r>
          </a:p>
        </p:txBody>
      </p:sp>
      <p:sp>
        <p:nvSpPr>
          <p:cNvPr id="38" name="Oval 37"/>
          <p:cNvSpPr/>
          <p:nvPr/>
        </p:nvSpPr>
        <p:spPr>
          <a:xfrm>
            <a:off x="10515600" y="6080760"/>
            <a:ext cx="228600" cy="228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6355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Microsoft YaHei"/>
              </a:defRPr>
            </a:pPr>
            <a:r>
              <a:t>企业画像自动构建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AI 商用搜索：连接技术与产业的桥梁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Microsoft YaHei"/>
              </a:defRPr>
            </a:pPr>
            <a:r>
              <a:t>2017 年 9 月上线，机器之心首款数据库产品。核心目标：解决 AI 技术方与需求方之间的信息不对称，推动技术落地。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651760" cy="201168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0B981"/>
                </a:solidFill>
                <a:latin typeface="Microsoft YaHei"/>
              </a:defRPr>
            </a:pPr>
            <a:r>
              <a:t>3,100+ 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全球 AI 应用实例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03120"/>
            <a:ext cx="2651760" cy="201168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0B981"/>
                </a:solidFill>
                <a:latin typeface="Microsoft YaHei"/>
              </a:defRPr>
            </a:pPr>
            <a:r>
              <a:t>100+ 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产业上下游对接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651760" cy="201168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0B981"/>
                </a:solidFill>
                <a:latin typeface="Microsoft YaHei"/>
              </a:defRPr>
            </a:pPr>
            <a:r>
              <a:t>6,000+ 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收录机构数据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103120"/>
            <a:ext cx="2651760" cy="201168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0B981"/>
                </a:solidFill>
                <a:latin typeface="Microsoft YaHei"/>
              </a:defRPr>
            </a:pPr>
            <a:r>
              <a:t>近百次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投融资对接服务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使用场景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企业寻找 AI 供应商：按行业、场景、技术筛选合适的技术方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技术方寻找落地场景：了解各行业 AI 需求，匹配自身能力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投资机构做尽职调查：快速了解 AI 细分赛道的竞争格局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学术研究者关注产业趋势：了解论文技术的实际落地情况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品牌活动与年度评选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4206240"/>
            <a:ext cx="3657600" cy="0"/>
          </a:xfrm>
          <a:prstGeom prst="line">
            <a:avLst/>
          </a:prstGeom>
          <a:ln w="381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26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731520" cy="0"/>
          </a:xfrm>
          <a:prstGeom prst="line">
            <a:avLst/>
          </a:prstGeom>
          <a:ln w="50800">
            <a:solidFill>
              <a:srgbClr val="1A5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GMIS 全球机器智能峰会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Global Machine Intelligence Summit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293B"/>
                </a:solidFill>
                <a:latin typeface="Microsoft YaHei"/>
              </a:defRPr>
            </a:pPr>
            <a:r>
              <a:t>首届 GMIS 2017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8B95A5"/>
                </a:solidFill>
                <a:latin typeface="Microsoft YaHei"/>
              </a:defRPr>
            </a:pPr>
            <a:r>
              <a:t>时间：2017 年 5 月 27-28 日  |  地点：北京 898 创新空间  |  主题：A Machine that learns?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47 位嘉宾  -  5 个 Session  -  32 场演讲  -  4 场圆桌论坛  -  1 场人机大战（搜狗汪仔 vs 人类速记员，4:1 获胜）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重磅嘉宾（部分）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26517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Stuart Russell</a:t>
            </a:r>
            <a:br/>
            <a:r>
              <a:t>UC Berkeley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029200"/>
            <a:ext cx="26517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5074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J. Schmidhuber</a:t>
            </a:r>
            <a:br/>
            <a:r>
              <a:t>LSTM之父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5029200"/>
            <a:ext cx="26517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074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杨强</a:t>
            </a:r>
            <a:br/>
            <a:r>
              <a:t>港科大/第四范式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5029200"/>
            <a:ext cx="26517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5074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王小川</a:t>
            </a:r>
            <a:br/>
            <a:r>
              <a:t>搜狗CEO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760720"/>
            <a:ext cx="26517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806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胡郁</a:t>
            </a:r>
            <a:br/>
            <a:r>
              <a:t>科大讯飞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5760720"/>
            <a:ext cx="26517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5806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俞栋</a:t>
            </a:r>
            <a:br/>
            <a:r>
              <a:t>腾讯AI Lab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5760720"/>
            <a:ext cx="26517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806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李佳</a:t>
            </a:r>
            <a:br/>
            <a:r>
              <a:t>谷歌云AI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5760720"/>
            <a:ext cx="26517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5806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漆远</a:t>
            </a:r>
            <a:br/>
            <a:r>
              <a:t>蚂蚁金服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品牌活动矩阵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40680" cy="233172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AI 科技年会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类型：年度旗舰活动        已举办 2 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24 位大咖共论 AI 新趋势</a:t>
            </a:r>
            <a:br/>
            <a:r>
              <a:t>学术界 + 产业界跨界对话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440680" cy="233172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17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NeurIPS/ICLR 论文分享会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类型：顶会线下解读        每年定期举办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连接学术界与工业界</a:t>
            </a:r>
            <a:br/>
            <a:r>
              <a:t>现场详解顶会重要论文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5440680" cy="233172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人形机器人开发者大会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类型：垂直赛道活动        2024 年 6 月首届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聚焦具身智能 &amp; 人形机器人</a:t>
            </a:r>
            <a:br/>
            <a:r>
              <a:t>产学研深度对接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40480"/>
            <a:ext cx="5440680" cy="233172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069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GMIS 全球机器智能峰会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4348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类型：国际品牌大会        2017 首发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8920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全球顶级嘉宾阵容</a:t>
            </a:r>
            <a:br/>
            <a:r>
              <a:t>AI 技术 + 产业全球化议题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28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731520" cy="0"/>
          </a:xfrm>
          <a:prstGeom prst="line">
            <a:avLst/>
          </a:prstGeom>
          <a:ln w="50800">
            <a:solidFill>
              <a:srgbClr val="1A5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「AI 中国」机器之心年度评选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被誉为中国 AI 领域的年度风向标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E293B"/>
                </a:solidFill>
                <a:latin typeface="Microsoft YaHei"/>
              </a:defRPr>
            </a:pPr>
            <a:r>
              <a:t>连续多年举办，是业内最具公信力的 AI 榜单之一。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评选标准不唯参数论、不唯融资额，关注技术的实际应用效能、产业赋能和长期价值。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  <a:latin typeface="Microsoft YaHei"/>
              </a:defRPr>
            </a:pPr>
            <a:r>
              <a:t>2024：沉淀-静水流深（6 大榜单）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- 最强技术实力企业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76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- 人工智能领军企业 TOP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239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- 大模型最具潜力创业企业 TOP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714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- 最佳大模型 TOP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18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- 最佳大模型产品及应用 TOP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- ScienceAI 领军企业 TOP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Microsoft YaHei"/>
              </a:defRPr>
            </a:pPr>
            <a:r>
              <a:t>2025：视远-正心明智（6 大榜单）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- 最强技术实力企业/机构 TOP 10（新增机构）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76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- 人工智能领军企业 TOP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1239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- 最佳大模型 TOP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4714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- 最佳大模型产品 TOP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8188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- 具身智能领军企业 TOP 20（新增）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166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- ScienceAI 领军企业/机构 TOP 10（新增机构）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806440"/>
            <a:ext cx="10698480" cy="54864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8704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A623"/>
                </a:solidFill>
                <a:latin typeface="Microsoft YaHei"/>
              </a:defRPr>
            </a:pPr>
            <a:r>
              <a:t>2025 年变化：新增「具身智能」专项榜单，榜单从仅限「企业」扩展为「企业/机构」——反映了从纯软件到软硬结合的趋势转变。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「AI 中国」2024-2025 部分上榜代表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5176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56DB"/>
                </a:solidFill>
                <a:latin typeface="Microsoft YaHei"/>
              </a:defRPr>
            </a:pPr>
            <a:r>
              <a:t>智谱AI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最强技术实力企业 TOP 10</a:t>
            </a:r>
            <a:br/>
            <a:r>
              <a:t>最佳大模型 TOP 20（GLM）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65176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  <a:latin typeface="Microsoft YaHei"/>
              </a:defRPr>
            </a:pPr>
            <a:r>
              <a:t>阶跃星辰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人工智能领军企业 TOP 20</a:t>
            </a:r>
            <a:br/>
            <a:r>
              <a:t>最佳大模型（Step-2 万亿参数）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265176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Microsoft YaHei"/>
              </a:defRPr>
            </a:pPr>
            <a:r>
              <a:t>无问芯穹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大模型最具潜力创业企业 TOP 10</a:t>
            </a:r>
            <a:br/>
            <a:r>
              <a:t>AI 基础设施创新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188720"/>
            <a:ext cx="265176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A623"/>
                </a:solidFill>
                <a:latin typeface="Microsoft YaHei"/>
              </a:defRPr>
            </a:pPr>
            <a:r>
              <a:t>深势科技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945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ScienceAI 领军企业 TOP 10</a:t>
            </a:r>
            <a:br/>
            <a:r>
              <a:t>AI for Science 标杆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265176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6F6F"/>
                </a:solidFill>
                <a:latin typeface="Microsoft YaHei"/>
              </a:defRPr>
            </a:pPr>
            <a:r>
              <a:t>腾讯元宝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最佳大模型产品 TOP 20（2025）</a:t>
            </a:r>
            <a:br/>
            <a:r>
              <a:t>C 端大模型应用代表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931920"/>
            <a:ext cx="265176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78BFA"/>
                </a:solidFill>
                <a:latin typeface="Microsoft YaHei"/>
              </a:defRPr>
            </a:pPr>
            <a:r>
              <a:t>优必选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9377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人工智能领军企业 TOP 20</a:t>
            </a:r>
            <a:br/>
            <a:r>
              <a:t>具身智能 &amp; 人形机器人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931920"/>
            <a:ext cx="265176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56DB"/>
                </a:solidFill>
                <a:latin typeface="Microsoft YaHei"/>
              </a:defRPr>
            </a:pPr>
            <a:r>
              <a:t>穹彻智能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9377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大模型最具潜力创业企业 TOP 10</a:t>
            </a:r>
            <a:br/>
            <a:r>
              <a:t>新兴 AI 势力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3931920"/>
            <a:ext cx="265176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  <a:latin typeface="Microsoft YaHei"/>
              </a:defRPr>
            </a:pPr>
            <a:r>
              <a:t>美图公司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9377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人工智能领军企业 TOP 20</a:t>
            </a:r>
            <a:br/>
            <a:r>
              <a:t>AI + 影像应用落地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PART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产业服务 &amp; 商业模式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4206240"/>
            <a:ext cx="3657600" cy="0"/>
          </a:xfrm>
          <a:prstGeom prst="line">
            <a:avLst/>
          </a:prstGeom>
          <a:ln w="381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31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731520" cy="0"/>
          </a:xfrm>
          <a:prstGeom prst="line">
            <a:avLst/>
          </a:prstGeom>
          <a:ln w="50800">
            <a:solidFill>
              <a:srgbClr val="1A5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产业服务：不止于媒体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投融资对接 - 人才服务 - 研究咨询 - 产业落地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5204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204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56DB"/>
                </a:solidFill>
                <a:latin typeface="Microsoft YaHei"/>
              </a:defRPr>
            </a:pPr>
            <a:r>
              <a:t>投融资对接  -  FA 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连接 AI 创业项目与投资机构</a:t>
            </a:r>
            <a:br/>
            <a:r>
              <a:t>累计完成 100+ 案例</a:t>
            </a:r>
            <a:br/>
            <a:r>
              <a:t>涵盖天使到 B 轮各阶段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5204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5204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B4D8"/>
                </a:solidFill>
                <a:latin typeface="Microsoft YaHei"/>
              </a:defRPr>
            </a:pPr>
            <a:r>
              <a:t>人才招聘  -  猎头服务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317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AI 高端人才与企业的桥梁</a:t>
            </a:r>
            <a:br/>
            <a:r>
              <a:t>覆盖算法/工程/产品</a:t>
            </a:r>
            <a:br/>
            <a:r>
              <a:t>北美 + 国内双向输送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5204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520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Microsoft YaHei"/>
              </a:defRPr>
            </a:pPr>
            <a:r>
              <a:t>产业研究  -  行研报告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317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全球五百强 AI 战略分析</a:t>
            </a:r>
            <a:br/>
            <a:r>
              <a:t>「智周」系列产业报告</a:t>
            </a:r>
            <a:br/>
            <a:r>
              <a:t>定制化行业深度调研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35204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35204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89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A623"/>
                </a:solidFill>
                <a:latin typeface="Microsoft YaHei"/>
              </a:defRPr>
            </a:pPr>
            <a:r>
              <a:t>国际合作  -  出海服务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09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帮助中国企业拓展北美市场</a:t>
            </a:r>
            <a:br/>
            <a:r>
              <a:t>海外落地资源对接</a:t>
            </a:r>
            <a:br/>
            <a:r>
              <a:t>跨国技术引进与授权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206240"/>
            <a:ext cx="35204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4206240"/>
            <a:ext cx="3520440" cy="54864"/>
          </a:xfrm>
          <a:prstGeom prst="rect">
            <a:avLst/>
          </a:prstGeom>
          <a:solidFill>
            <a:srgbClr val="E8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389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6F6F"/>
                </a:solidFill>
                <a:latin typeface="Microsoft YaHei"/>
              </a:defRPr>
            </a:pPr>
            <a:r>
              <a:t>企业咨询  -  战略咨询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709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企业 AI 转型路线图</a:t>
            </a:r>
            <a:br/>
            <a:r>
              <a:t>技术栈选型评估</a:t>
            </a:r>
            <a:br/>
            <a:r>
              <a:t>AI 竞争格局分析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206240"/>
            <a:ext cx="35204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4206240"/>
            <a:ext cx="352044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78BFA"/>
                </a:solidFill>
                <a:latin typeface="Microsoft YaHei"/>
              </a:defRPr>
            </a:pPr>
            <a:r>
              <a:t>活动定制  -  品牌活动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709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为企业定制 AI 主题峰会</a:t>
            </a:r>
            <a:br/>
            <a:r>
              <a:t>私董会、闭门沙龙</a:t>
            </a:r>
            <a:br/>
            <a:r>
              <a:t>技术发布会策划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商业模式演变：从媒体到「AI 版彭博」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56032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Phase 1</a:t>
            </a:r>
            <a:br/>
            <a:r>
              <a:t>纯媒体</a:t>
            </a:r>
            <a:br/>
            <a:r>
              <a:t>(2015-2017)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内容广告收入</a:t>
            </a:r>
            <a:br/>
            <a:r>
              <a:t>硬广告，拒绝软文</a:t>
            </a:r>
            <a:br/>
            <a:r>
              <a:t>建立专业口碑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657600" cy="256032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544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  <a:latin typeface="Microsoft YaHei"/>
              </a:defRPr>
            </a:pPr>
            <a:r>
              <a:t>Phase 2</a:t>
            </a:r>
            <a:br/>
            <a:r>
              <a:t>内容+服务</a:t>
            </a:r>
            <a:br/>
            <a:r>
              <a:t>(2017-2019)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媒体广告 + FA + 猎头</a:t>
            </a:r>
            <a:br/>
            <a:r>
              <a:t>AI商用搜索上线</a:t>
            </a:r>
            <a:br/>
            <a:r>
              <a:t>知识付费产品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371600"/>
            <a:ext cx="3657600" cy="256032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5544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Phase 3</a:t>
            </a:r>
            <a:br/>
            <a:r>
              <a:t>信息平台</a:t>
            </a:r>
            <a:br/>
            <a:r>
              <a:t>(2019-至今)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Pro订阅 + 咨询 + 数据</a:t>
            </a:r>
            <a:br/>
            <a:r>
              <a:t>百万知识图谱驱动</a:t>
            </a:r>
            <a:br/>
            <a:r>
              <a:t>多产品线交叉变现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  <a:latin typeface="Microsoft YaHei"/>
              </a:defRPr>
            </a:pPr>
            <a:r>
              <a:t>&gt;&gt;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  <a:latin typeface="Microsoft YaHei"/>
              </a:defRPr>
            </a:pPr>
            <a:r>
              <a:t>&gt;&gt;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当前收入结构（估算）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媒体广告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20%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365760" cy="1371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5806440"/>
            <a:ext cx="1463040" cy="1371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产业对接服务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25%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5806440"/>
            <a:ext cx="457200" cy="1371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29000" y="5806440"/>
            <a:ext cx="1371600" cy="1371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Pro订阅/数据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Microsoft YaHei"/>
              </a:defRPr>
            </a:pPr>
            <a:r>
              <a:t>20%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806440"/>
            <a:ext cx="365760" cy="1371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0" y="5806440"/>
            <a:ext cx="1463040" cy="1371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研究咨询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A623"/>
                </a:solidFill>
                <a:latin typeface="Microsoft YaHei"/>
              </a:defRPr>
            </a:pPr>
            <a:r>
              <a:t>20%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806440"/>
            <a:ext cx="365760" cy="13716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01000" y="5806440"/>
            <a:ext cx="1463040" cy="1371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品牌活动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6F6F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5806440"/>
            <a:ext cx="274320" cy="137160"/>
          </a:xfrm>
          <a:prstGeom prst="roundRect">
            <a:avLst/>
          </a:prstGeom>
          <a:solidFill>
            <a:srgbClr val="E8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241280" y="5806440"/>
            <a:ext cx="1554480" cy="13716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33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731520" cy="0"/>
          </a:xfrm>
          <a:prstGeom prst="line">
            <a:avLst/>
          </a:prstGeom>
          <a:ln w="50800">
            <a:solidFill>
              <a:srgbClr val="1A5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媒体声誉与行业评价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来自投资方、合作方及行业的声音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9418320" cy="914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54864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0312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在浮躁的AI信息时代，机器之心是少有的、真正在做深度内容的团队。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0604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—— 行业观察者评价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154680"/>
            <a:ext cx="9418320" cy="914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3154680"/>
            <a:ext cx="54864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24612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Synced is an important window for the world to understand AI development in China.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4904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—— 海外 AI 学者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297680"/>
            <a:ext cx="9418320" cy="914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4297680"/>
            <a:ext cx="54864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38912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机器之心对顶会论文的跟踪速度和解读质量，在中文媒体中无出其右。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89204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—— AI 研究者社区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440680"/>
            <a:ext cx="9418320" cy="914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5440680"/>
            <a:ext cx="54864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553212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作为投资方，我们看重的是他们的数据积累和产业连接能力。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03504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—— 某投资机构合伙人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PART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行业地位 &amp; 未来展望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4206240"/>
            <a:ext cx="3657600" cy="0"/>
          </a:xfrm>
          <a:prstGeom prst="line">
            <a:avLst/>
          </a:prstGeom>
          <a:ln w="381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35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731520" cy="0"/>
          </a:xfrm>
          <a:prstGeom prst="line">
            <a:avLst/>
          </a:prstGeom>
          <a:ln w="50800">
            <a:solidFill>
              <a:srgbClr val="1A5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核心竞争力 - 护城河分析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为什么机器之心不可替代？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52044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品牌信任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深耕 AI 10 年+</a:t>
            </a:r>
            <a:br/>
            <a:r>
              <a:t>坚持硬广告、拒绝软文</a:t>
            </a:r>
            <a:br/>
            <a:r>
              <a:t>学术圈 + 产业界双重认可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52044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2103120"/>
            <a:ext cx="365760" cy="3657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知识图谱壁垒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060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百万级 AI 知识图谱</a:t>
            </a:r>
            <a:br/>
            <a:r>
              <a:t>10+ 实体类型</a:t>
            </a:r>
            <a:br/>
            <a:r>
              <a:t>6 年持续积累迭代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52044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10312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全球化基因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060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5 城北美团队</a:t>
            </a:r>
            <a:br/>
            <a:r>
              <a:t>唯一中英双语 AI 媒体</a:t>
            </a:r>
            <a:br/>
            <a:r>
              <a:t>双向信息流动能力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352044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4480560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480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  <a:latin typeface="Microsoft YaHei"/>
              </a:defRPr>
            </a:pPr>
            <a:r>
              <a:t>产业网络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连接 6,000+ 机构</a:t>
            </a:r>
            <a:br/>
            <a:r>
              <a:t>100+ 投融资案例</a:t>
            </a:r>
            <a:br/>
            <a:r>
              <a:t>顶级投资机构信任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206240"/>
            <a:ext cx="352044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0" y="4480560"/>
            <a:ext cx="365760" cy="365760"/>
          </a:xfrm>
          <a:prstGeom prst="ellipse">
            <a:avLst/>
          </a:prstGeom>
          <a:solidFill>
            <a:srgbClr val="E8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4480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F6F"/>
                </a:solidFill>
                <a:latin typeface="Microsoft YaHei"/>
              </a:defRPr>
            </a:pPr>
            <a:r>
              <a:t>数据积累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98348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10,000+ 新闻数据库</a:t>
            </a:r>
            <a:br/>
            <a:r>
              <a:t>3,100+ 应用案例</a:t>
            </a:r>
            <a:br/>
            <a:r>
              <a:t>3 年+ 历史结构化数据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206240"/>
            <a:ext cx="352044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12480" y="4480560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4480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Microsoft YaHei"/>
              </a:defRPr>
            </a:pPr>
            <a:r>
              <a:t>团队认知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98348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AI + 媒体复合团队</a:t>
            </a:r>
            <a:br/>
            <a:r>
              <a:t>英语 + ML 双背景</a:t>
            </a:r>
            <a:br/>
            <a:r>
              <a:t>学术级内容能力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行业生态位：AI 信息产业链的中枢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上游（信息源）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全球 AI 顶会  -  学术期刊  -  科技巨头发布会  -  创业公司动态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&gt;&gt; 聚合 &amp; 解读 &gt;&gt;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834640"/>
            <a:ext cx="6675120" cy="137160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2926080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机器之心 / Synced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内容生产 - 知识图谱 - 数据平台 - 产业连接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&gt;&gt; 分发 &amp; 服务 &gt;&gt;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29200"/>
            <a:ext cx="2468880" cy="10972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166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 从业者</a:t>
            </a:r>
            <a:br/>
            <a:r>
              <a:t>（150 万+ 用户）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40" y="5029200"/>
            <a:ext cx="2468880" cy="10972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5166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投资机构</a:t>
            </a:r>
            <a:br/>
            <a:r>
              <a:t>（100+ 案例）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5029200"/>
            <a:ext cx="2468880" cy="10972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5166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科技企业</a:t>
            </a:r>
            <a:br/>
            <a:r>
              <a:t>（6,000+ 机构）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5029200"/>
            <a:ext cx="2468880" cy="10972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5166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学术圈</a:t>
            </a:r>
            <a:br/>
            <a:r>
              <a:t>（全球顶会合作）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37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731520" cy="0"/>
          </a:xfrm>
          <a:prstGeom prst="line">
            <a:avLst/>
          </a:prstGeom>
          <a:ln w="50800">
            <a:solidFill>
              <a:srgbClr val="1A5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深度对比：机器之心 - 量子位 - 新智元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5A5"/>
                </a:solidFill>
                <a:latin typeface="Microsoft YaHei"/>
              </a:defRPr>
            </a:pPr>
            <a:r>
              <a:t>三大顶会的战略分野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1463040" cy="438912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828800"/>
            <a:ext cx="1316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783080"/>
            <a:ext cx="3108960" cy="438912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6272" y="182880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机器之心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783080"/>
            <a:ext cx="3108960" cy="438912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68112" y="182880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量子位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783080"/>
            <a:ext cx="3108960" cy="438912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82880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新智元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86000"/>
            <a:ext cx="146304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331720"/>
            <a:ext cx="1316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Microsoft YaHei"/>
              </a:defRPr>
            </a:pPr>
            <a:r>
              <a:t>成立时间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2286000"/>
            <a:ext cx="3108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76272" y="233172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Microsoft YaHei"/>
              </a:defRPr>
            </a:pPr>
            <a:r>
              <a:t>2014 / 2015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2286000"/>
            <a:ext cx="3108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68112" y="233172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2016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286000"/>
            <a:ext cx="3108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9952" y="233172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2015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788920"/>
            <a:ext cx="1463040" cy="43891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834640"/>
            <a:ext cx="1316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Microsoft YaHei"/>
              </a:defRPr>
            </a:pPr>
            <a:r>
              <a:t>核心定位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2788920"/>
            <a:ext cx="3108960" cy="43891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76272" y="283464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Microsoft YaHei"/>
              </a:defRPr>
            </a:pPr>
            <a:r>
              <a:t>学术 + 产业</a:t>
            </a:r>
            <a:br/>
            <a:r>
              <a:t>综合信息平台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0" y="2788920"/>
            <a:ext cx="3108960" cy="43891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68112" y="283464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AI 商业报道</a:t>
            </a:r>
            <a:br/>
            <a:r>
              <a:t>与创业服务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2788920"/>
            <a:ext cx="3108960" cy="43891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9952" y="283464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AI 前沿资讯</a:t>
            </a:r>
            <a:br/>
            <a:r>
              <a:t>与社群运营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291840"/>
            <a:ext cx="146304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337560"/>
            <a:ext cx="1316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Microsoft YaHei"/>
              </a:defRPr>
            </a:pPr>
            <a:r>
              <a:t>内容特点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03120" y="3291840"/>
            <a:ext cx="3108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76272" y="333756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Microsoft YaHei"/>
              </a:defRPr>
            </a:pPr>
            <a:r>
              <a:t>深度论文解读</a:t>
            </a:r>
            <a:br/>
            <a:r>
              <a:t>技术解剖式报道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94960" y="3291840"/>
            <a:ext cx="3108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68112" y="333756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产业快讯 + 融资</a:t>
            </a:r>
            <a:br/>
            <a:r>
              <a:t>创始人深度访谈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0" y="3291840"/>
            <a:ext cx="3108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59952" y="333756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前沿快讯 + 综述</a:t>
            </a:r>
            <a:br/>
            <a:r>
              <a:t>大会直播 + 社群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794760"/>
            <a:ext cx="1463040" cy="43891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3840480"/>
            <a:ext cx="1316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Microsoft YaHei"/>
              </a:defRPr>
            </a:pPr>
            <a:r>
              <a:t>融资情况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03120" y="3794760"/>
            <a:ext cx="3108960" cy="43891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76272" y="384048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Microsoft YaHei"/>
              </a:defRPr>
            </a:pPr>
            <a:r>
              <a:t>B 轮（2026）</a:t>
            </a:r>
            <a:br/>
            <a:r>
              <a:t>百度、头条、国资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94960" y="3794760"/>
            <a:ext cx="3108960" cy="43891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68112" y="384048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B 轮</a:t>
            </a:r>
            <a:br/>
            <a:r>
              <a:t>知名 VC 支持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0" y="3794760"/>
            <a:ext cx="3108960" cy="43891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59952" y="384048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多轮融资</a:t>
            </a:r>
            <a:br/>
            <a:r>
              <a:t>产业资本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297680"/>
            <a:ext cx="146304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4343400"/>
            <a:ext cx="1316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Microsoft YaHei"/>
              </a:defRPr>
            </a:pPr>
            <a:r>
              <a:t>海外布局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03120" y="4297680"/>
            <a:ext cx="3108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76272" y="434340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Microsoft YaHei"/>
              </a:defRPr>
            </a:pPr>
            <a:r>
              <a:t>5城北美自有团队</a:t>
            </a:r>
            <a:br/>
            <a:r>
              <a:t>中英双语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94960" y="4297680"/>
            <a:ext cx="3108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68112" y="434340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无自有海外团队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86800" y="4297680"/>
            <a:ext cx="3108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59952" y="434340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无自有海外团队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800600"/>
            <a:ext cx="1463040" cy="43891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4846320"/>
            <a:ext cx="1316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Microsoft YaHei"/>
              </a:defRPr>
            </a:pPr>
            <a:r>
              <a:t>数据产品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103120" y="4800600"/>
            <a:ext cx="3108960" cy="43891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76272" y="484632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Microsoft YaHei"/>
              </a:defRPr>
            </a:pPr>
            <a:r>
              <a:t>Pro 数据平台</a:t>
            </a:r>
            <a:br/>
            <a:r>
              <a:t>百万知识图谱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94960" y="4800600"/>
            <a:ext cx="3108960" cy="43891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68112" y="484632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智库报告为主</a:t>
            </a:r>
            <a:br/>
            <a:r>
              <a:t>无平台级产品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86800" y="4800600"/>
            <a:ext cx="3108960" cy="43891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59952" y="484632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数据产品较少</a:t>
            </a:r>
            <a:br/>
            <a:r>
              <a:t>偏活动社群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5303520"/>
            <a:ext cx="146304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" y="5349240"/>
            <a:ext cx="1316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Microsoft YaHei"/>
              </a:defRPr>
            </a:pPr>
            <a:r>
              <a:t>品牌活动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103120" y="5303520"/>
            <a:ext cx="3108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76272" y="534924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Microsoft YaHei"/>
              </a:defRPr>
            </a:pPr>
            <a:r>
              <a:t>GMIS/AI科技年会</a:t>
            </a:r>
            <a:br/>
            <a:r>
              <a:t>AI中国年度评选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394960" y="5303520"/>
            <a:ext cx="3108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68112" y="534924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MEET大会</a:t>
            </a:r>
            <a:br/>
            <a:r>
              <a:t>各类沙龙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686800" y="5303520"/>
            <a:ext cx="31089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59952" y="534924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世界AI大会</a:t>
            </a:r>
            <a:br/>
            <a:r>
              <a:t>社群活动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5806440"/>
            <a:ext cx="1463040" cy="43891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" y="5852160"/>
            <a:ext cx="1316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Microsoft YaHei"/>
              </a:defRPr>
            </a:pPr>
            <a:r>
              <a:t>商业模式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103120" y="5806440"/>
            <a:ext cx="3108960" cy="43891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76272" y="585216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Microsoft YaHei"/>
              </a:defRPr>
            </a:pPr>
            <a:r>
              <a:t>广告+订阅+数据</a:t>
            </a:r>
            <a:br/>
            <a:r>
              <a:t>+FA+研究咨询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394960" y="5806440"/>
            <a:ext cx="3108960" cy="43891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68112" y="585216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广告+活动</a:t>
            </a:r>
            <a:br/>
            <a:r>
              <a:t>+创业服务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686800" y="5806440"/>
            <a:ext cx="3108960" cy="43891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759952" y="585216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广告+活动</a:t>
            </a:r>
            <a:br/>
            <a:r>
              <a:t>+社群付费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未来战略方向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2044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深度产业化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Microsoft YaHei"/>
              </a:defRPr>
            </a:pPr>
            <a:r>
              <a:t>从信息平台向产业决策工具升级</a:t>
            </a:r>
            <a:br/>
            <a:r>
              <a:t>强化 FA、数据订阅、企业服务</a:t>
            </a:r>
            <a:br/>
            <a:r>
              <a:t>打造 AI 产业的彭博终端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2044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173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数据资产化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65960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Microsoft YaHei"/>
              </a:defRPr>
            </a:pPr>
            <a:r>
              <a:t>百万知识图谱的商业化变现</a:t>
            </a:r>
            <a:br/>
            <a:r>
              <a:t>AI 行业数据库授权服务</a:t>
            </a:r>
            <a:br/>
            <a:r>
              <a:t>训练数据与标注服务探索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52044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173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  <a:latin typeface="Microsoft YaHei"/>
              </a:defRPr>
            </a:pPr>
            <a:r>
              <a:t>国际化深化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65960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Microsoft YaHei"/>
              </a:defRPr>
            </a:pPr>
            <a:r>
              <a:t>扩大 Synced 海外影响力</a:t>
            </a:r>
            <a:br/>
            <a:r>
              <a:t>进入东南亚、中东市场</a:t>
            </a:r>
            <a:br/>
            <a:r>
              <a:t>中企出海 AI 服务枢纽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352044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F6F"/>
                </a:solidFill>
                <a:latin typeface="Microsoft YaHei"/>
              </a:defRPr>
            </a:pPr>
            <a:r>
              <a:t>AI 赋能自身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Microsoft YaHei"/>
              </a:defRPr>
            </a:pPr>
            <a:r>
              <a:t>用大模型提升内容生产效率</a:t>
            </a:r>
            <a:br/>
            <a:r>
              <a:t>AI 辅助知识图谱自动更新</a:t>
            </a:r>
            <a:br/>
            <a:r>
              <a:t>智能投研工具开发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931920"/>
            <a:ext cx="352044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1605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Microsoft YaHei"/>
              </a:defRPr>
            </a:pPr>
            <a:r>
              <a:t>合肥落地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709160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Microsoft YaHei"/>
              </a:defRPr>
            </a:pPr>
            <a:r>
              <a:t>依托 B 轮合肥国资背景</a:t>
            </a:r>
            <a:br/>
            <a:r>
              <a:t>深入长三角 AI 产业集群</a:t>
            </a:r>
            <a:br/>
            <a:r>
              <a:t>产学研 + 资本 + 媒体联动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931920"/>
            <a:ext cx="3520440" cy="2377440"/>
          </a:xfrm>
          <a:prstGeom prst="round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1605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垂直深化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709160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Microsoft YaHei"/>
              </a:defRPr>
            </a:pPr>
            <a:r>
              <a:t>具身智能、AI4Science 等</a:t>
            </a:r>
            <a:br/>
            <a:r>
              <a:t>新兴赛道的深度覆盖</a:t>
            </a:r>
            <a:br/>
            <a:r>
              <a:t>细分赛道研究报告产品化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39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731520" cy="0"/>
          </a:xfrm>
          <a:prstGeom prst="line">
            <a:avLst/>
          </a:prstGeom>
          <a:ln w="50800">
            <a:solidFill>
              <a:srgbClr val="1A5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总结：为什么关注机器之心？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2044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信息密度最高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论文解读速度+深度中文无出其右</a:t>
            </a:r>
            <a:br/>
            <a:r>
              <a:t>1篇顶会论文=1篇高质量中文解读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52044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唯一全球布局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1460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中国唯一中英双语、5城北美的AI媒体</a:t>
            </a:r>
            <a:br/>
            <a:r>
              <a:t>既懂中国，又懂世界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52044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0574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数据壁垒最深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51460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百万级AI知识图谱，6年持续积累</a:t>
            </a:r>
            <a:br/>
            <a:r>
              <a:t>从信息到知识到决策的递进价值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352044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产业连接最强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6,000+机构网络、100+投融资案例</a:t>
            </a:r>
            <a:br/>
            <a:r>
              <a:t>从「看到」到「做成」的闭环能力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206240"/>
            <a:ext cx="352044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43484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品牌信任最厚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8920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10年深耕AI、坚持专业主义</a:t>
            </a:r>
            <a:br/>
            <a:r>
              <a:t>学术圈+投资圈+产业圈三重认可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206240"/>
            <a:ext cx="352044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43484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战略路径最清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8920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清晰的AI版彭博愿景</a:t>
            </a:r>
            <a:br/>
            <a:r>
              <a:t>内容-数据-服务-平台的进化逻辑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2880360"/>
            <a:ext cx="3200400" cy="0"/>
          </a:xfrm>
          <a:prstGeom prst="line">
            <a:avLst/>
          </a:prstGeom>
          <a:ln w="381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机器之心  -  Heart of 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8B95A5"/>
                </a:solidFill>
                <a:latin typeface="Microsoft YaHei"/>
              </a:defRPr>
            </a:pPr>
            <a:r>
              <a:t>官网：jiqizhixin.com  |  数据平台：pro.jiqizhixin.com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8B95A5"/>
                </a:solidFill>
                <a:latin typeface="Microsoft YaHei"/>
              </a:defRPr>
            </a:pPr>
            <a:r>
              <a:t>英文站：syncedreview.com  |  微信公众号：机器之心 / 机器之能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8B95A5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100" b="0">
                <a:solidFill>
                  <a:srgbClr val="8B95A5"/>
                </a:solidFill>
                <a:latin typeface="Microsoft YaHei"/>
              </a:defRPr>
            </a:pPr>
            <a:r>
              <a:t>本 PPT 所含信息基于公开资料整理，数据截至 2026 年 5 月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8B95A5"/>
                </a:solidFill>
                <a:latin typeface="Microsoft YaHei"/>
              </a:defRPr>
            </a:pPr>
            <a:r>
              <a:t>信息源：机器之心官网、百度百科、36氪、澎湃新闻、企查查等公开渠道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